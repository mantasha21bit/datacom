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0" r:id="rId2"/>
    <p:sldId id="4421" r:id="rId3"/>
    <p:sldId id="4423" r:id="rId4"/>
    <p:sldId id="4424" r:id="rId5"/>
    <p:sldId id="4429" r:id="rId6"/>
    <p:sldId id="4428" r:id="rId7"/>
    <p:sldId id="4427" r:id="rId8"/>
    <p:sldId id="4426" r:id="rId9"/>
    <p:sldId id="4430" r:id="rId10"/>
    <p:sldId id="4446" r:id="rId11"/>
    <p:sldId id="4431" r:id="rId12"/>
    <p:sldId id="4432" r:id="rId13"/>
    <p:sldId id="4447" r:id="rId14"/>
    <p:sldId id="4433" r:id="rId15"/>
    <p:sldId id="4434" r:id="rId16"/>
    <p:sldId id="4435" r:id="rId17"/>
    <p:sldId id="4437" r:id="rId18"/>
    <p:sldId id="4436" r:id="rId19"/>
    <p:sldId id="4439" r:id="rId20"/>
    <p:sldId id="4440" r:id="rId21"/>
    <p:sldId id="4438" r:id="rId22"/>
    <p:sldId id="4442" r:id="rId23"/>
    <p:sldId id="4443" r:id="rId24"/>
    <p:sldId id="4444" r:id="rId25"/>
    <p:sldId id="4448" r:id="rId26"/>
    <p:sldId id="444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29:56.9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0,'1588'0,"-1552"2,0 2,0 1,38 11,-36-7,1-1,49 2,-66-8,0 1,0 1,41 14,22 5,63 1,1-6,211-2,663-17,-984 3,54 9,10 1,-78-11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30:01.0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4 298,'0'-1,"-1"1,1 0,0 0,-1-1,1 1,0 0,0-1,0 1,-1 0,1-1,0 1,0 0,0-1,0 1,0-1,-1 1,1 0,0-1,0 1,0-1,0 1,0 0,0-1,0 1,1 0,-1-1,0 1,0-1,0 1,0 0,0-1,1 1,-1 0,0-1,0 1,0 0,1-1,-1 1,0 0,1 0,-1-1,0 1,1 0,-1 0,0-1,1 1,-1 0,0 0,1 0,-1 0,0 0,1 0,-1-1,1 1,-1 0,0 0,1 0,0 1,29-6,-25 5,386-9,-258 11,2589-1,-1519-2,-775-12,-80 1,-208 8,249-38,-276 25,1 5,125 4,-27 2,291-44,-291 13,237-26,238 57,-377 10,1431-4,-1738 0,19 0,-1 0,23 5,-38-4,0 0,0 0,-1 1,1 0,0 0,-1 0,0 1,0 0,0 0,0 0,0 0,8 8,-5-1,0 1,0 0,-1 0,0 0,-1 1,9 24,20 83,-9-27,4-2,-17-50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30:02.2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2602 217,'-199'-13,"30"1,98 10,-4 1,-104-15,79 3,44 7,-96-24,130 23,-33-10,0 2,-110-14,-34 4,-40-3,-249 26,246 4,138-2,72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30:13.4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140 271,'12'-1,"-1"-1,1 1,-1-2,21-6,8-3,54-6,155-10,98 21,1939 9,-1189-4,-51 2,-800-13,-45-1,150-9,-134-16,39-3,-95 35,10-1,129-24,-147 21,166 10,-148 3,3641-2,-3805 0,-2 0,0-1,0 1,0 0,0 1,0-1,0 1,-1 0,1 0,0 0,-1 1,1 0,0 0,6 4,-11-6,1 1,-1 0,1-1,-1 1,1 0,-1 0,1-1,-1 1,1 0,-1 0,0 0,0 0,1 0,-1-1,0 1,0 0,0 0,0 0,0 0,0 0,0 0,0 0,0-1,-1 1,1 0,0 0,-1 0,1 0,0 0,-1-1,1 1,-1 0,1 0,-1-1,1 1,-1 0,0-1,1 1,-1-1,0 1,-1 0,-5 5,0 0,0-1,-10 5,13-7,-63 40,32-19,0-2,-73 33,82-44,-6 3,-1-2,0-1,-1-2,-51 8,-304 9,-1611-28,1176 3,671 12,12 0,-512-12,312-3,-4922 2,5225-2,1-2,-1-1,-40-12,-45-7,-133-4,95 7,135 18,-37-9,32 6,-39-3,-70-4,-74-3,4 17,178-1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10:30:24.7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0,'14599'0'0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30:28.3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83,'13'-1,"0"0,21-4,-7 0,208-28,322-5,269 39,-343 1,1087-2,-1541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30:46.5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0,'3701'0,"-3671"0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31:05.0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0,'3180'0,"-3153"0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0:32:13.6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124 301,'0'-1,"1"1,-1-1,1 0,0 0,0 1,-1-1,1 0,0 1,0-1,0 1,0-1,0 1,-1 0,1-1,0 1,0 0,0-1,0 1,0 0,0 0,0 0,0 0,2 0,2 0,147-22,176 0,163 21,-238 3,3835-2,-4080 0,-1 1,1-1,0 2,0-1,-1 1,10 3,-16-5,0 1,0-1,0 0,0 1,0-1,-1 1,1-1,0 1,0 0,0-1,-1 1,1 0,0 0,-1 0,1-1,-1 1,1 0,-1 0,1 0,-1 0,1 0,-1 1,0 0,0-1,-1 1,1-1,0 1,-1-1,0 1,1-1,-1 1,0-1,0 1,0-1,0 0,0 0,0 1,0-1,0 0,0 0,-1 0,-1 1,-27 22,-1-2,-1-2,-65 33,75-45,0 0,0-1,0-1,-1-1,0-1,-26 1,-144-5,112-2,-751-1,495 4,86-15,21 0,-703 13,446 3,-707-2,1148 2,0 3,1 2,-65 18,103-23,-14 4,1 2,0 0,0 2,1 0,0 1,-18 14,-37 21,57-37,1 0,0 2,0 0,-15 14,27-22,1 1,0-1,0 1,0 0,1 0,-1 0,1 0,0 0,-3 9,4-11,0 1,1 0,0-1,0 1,0 0,0-1,0 1,0 0,0-1,1 1,0-1,-1 1,1 0,0-1,0 0,0 1,1-1,2 4,0 0,1-1,0-1,0 1,0-1,0 0,1 0,0 0,0-1,0 0,0 0,0-1,0 0,8 2,9 2,0-1,33 2,184-4,-128-5,-87 0,0-1,-1-1,1-1,-1-2,39-14,14-4,-41 14,-13 4,0 0,0 2,43-5,-133 24,-58-4,-135-6,175-5,69 0,-1 0,0-1,0-1,1-1,-1 0,-20-9,11 2,0-1,-45-29,70 40,-1 0,1 0,-1 0,1 0,0 0,0 0,-1 0,1 0,0 0,0 0,0-1,0 1,0 0,1-1,-1 1,-1-4,2 5,0 0,0 0,1-1,-1 1,0 0,0-1,0 1,0 0,0 0,1-1,-1 1,0 0,0 0,0 0,1-1,-1 1,0 0,0 0,1 0,-1-1,0 1,0 0,1 0,-1 0,0 0,0 0,1 0,-1 0,0 0,1 0,20 0,127 33,13 1,-28-18,0-6,145-9,-276-1,-1 0,1 0,0 0,-1 0,1 0,-1 0,1 0,-1 0,1-1,0 1,-1-1,1 1,-1-1,0 0,1 1,-1-1,0 0,1 0,-1 0,2-2,-2 2,-1 0,0 0,0 0,0-1,0 1,0 0,0 0,0 0,0 0,-1 0,1 0,0 0,-1 0,1 0,0 0,-1 0,1 0,-1 0,0 0,1 0,-1 1,-1-2,-7-8,-1 0,0 1,-20-14,-235-134,207 126,-37-15,55 28,-58-36,96 53,-1-1,1 1,0-1,0 1,1-1,-1 0,0 0,-2-3,4 5,0-1,0 1,-1-1,1 1,0-1,0 0,0 1,-1-1,1 1,0-1,0 1,0-1,0 0,0 1,0-1,0 1,0-1,1 0,-1 1,0-1,0 1,0-1,1 1,-1-1,2-2,1 2,-1-1,0 0,1 0,-1 1,1-1,0 1,-1 0,1 0,0 0,0 0,0 1,5-2,54-6,1 2,110 4,-102 3,62 1,100-1,-231-1,-1 0,1 0,0 0,0 0,0-1,0 1,0 0,0-1,-1 0,1 1,0-1,0 0,-1 0,3-1,-4 1,1 1,-1 0,0-1,0 1,0-1,0 1,0-1,1 1,-1-1,0 0,0 1,0-1,0 1,-1-1,1 1,0-1,0 1,0-1,0 1,0-1,-1 1,1 0,0-1,0 1,-1-1,1 1,0-1,-1 1,1 0,-1-1,0 1,-7-7,0 0,0 1,-16-9,17 11,-146-80,-22-13,175 97,-1-1,0 1,1 0,-1 0,1-1,-1 1,1-1,-1 1,0 0,1-1,0 1,-1-1,1 1,-1-1,1 1,0-1,-1 0,1 1,0-1,-1 1,1-1,0 0,0 1,0-1,-1-1,2 2,0-1,-1 0,1 1,0-1,0 1,-1-1,1 1,0-1,0 1,0-1,0 1,-1 0,1-1,0 1,0 0,0 0,2 0,25-4,1 1,0 1,35 4,-15-1,729 3,-750-3,51 8,-48-3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1:44:50.6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7879 2,'-181'-1,"-197"3,231 11,-12 0,-508-10,346-5,-5677 2,5971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1:44:54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0 108,'56'11,"0"-3,0-2,102-3,-100-3,1496 1,-747-3,8181 2,-9303-26,48 1,208 23,13 2,0-2,1-3,-52-10,57 5,0 1,-1 3,0 1,-50 1,-1281 7,763-4,284-12,28-1,-1021 13,632 3,-370-2,1026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1:48:49.7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13,'3'-1,"0"-1,-1 1,1-1,0 1,0 0,0 0,0 0,0 0,0 1,0-1,0 1,0 0,0 0,0 0,5 1,-2-1,27 2,0 1,0 2,49 15,-38-9,54 6,345-8,-264-12,1636 3,-1482 14,-50-1,861-10,-586-5,1899 2,-2409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3T11:48:53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9808 428,'1'1,"0"0,-1 0,1 0,0 0,0 0,0 1,-1-1,1 0,-1 0,1 0,-1 1,1-1,-1 0,0 0,1 1,-1-1,0 0,0 1,0-1,0 0,0 2,-1 0,0-1,0 0,1 1,-1-1,-1 0,1 0,0 0,-1 0,1 0,-4 3,-1 1,-1 0,0 0,0-1,-1 1,-10 4,-6 1,-1-1,0-1,-1-1,1-1,-29 4,-136 9,113-14,-261 34,-245 13,-313-53,382-2,-6458 2,6988-3,0-1,26-11,-14 5,75-30,-77 28,1 1,1 1,-1 1,2 2,-1 0,30-1,24 6,-45 2,59-7,-22-5,131-16,-162 24,80-21,-11 2,197-11,-159 20,-115 11,45-5,0-2,88-25,-126 24,-1 3,2 1,54-2,131 8,-119 3,1984 0,-1097-3,-560-24,-133 3,-211 18,1005-26,-1001 31,130-2,-184-3,-1-2,1-2,48-15,-38 8,67-9,60 6,-61 7,151-33,37-16,159 33,-86 28,-348-1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6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12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1.png"/><Relationship Id="rId14" Type="http://schemas.openxmlformats.org/officeDocument/2006/relationships/customXml" Target="../ink/ink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26.png"/><Relationship Id="rId4" Type="http://schemas.openxmlformats.org/officeDocument/2006/relationships/customXml" Target="../ink/ink7.xml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31.png"/><Relationship Id="rId4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5" Type="http://schemas.openxmlformats.org/officeDocument/2006/relationships/image" Target="../media/image34.png"/><Relationship Id="rId4" Type="http://schemas.openxmlformats.org/officeDocument/2006/relationships/customXml" Target="../ink/ink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25SUB4509_NMS Testing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–14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 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10748088" cy="1031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</a:t>
            </a:r>
          </a:p>
          <a:p>
            <a:pPr algn="ctr"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Mantasha Ahmad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Superset ID: 5882049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10269116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-</a:t>
            </a:r>
            <a:r>
              <a:rPr lang="en-US" sz="2400" dirty="0">
                <a:solidFill>
                  <a:schemeClr val="bg1"/>
                </a:solidFill>
                <a:latin typeface="HK Grotesk"/>
              </a:rPr>
              <a:t>Multi-Area OSPFv2/v3, EIGRP and GRE , NETCONF-Based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solidFill>
                  <a:srgbClr val="0187CC"/>
                </a:solidFill>
              </a:rPr>
              <a:t>Problem Statement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28952" y="703918"/>
            <a:ext cx="117340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/>
              <a:t>Enterprise networks require dual-stack support (IPv4 &amp; IPv6), scalable routing, secure tunneling, and automation. Manual configuration of EIGRP, OSPFv2, OSPFv3, and GRE tunnels is complex, time-consuming, and prone to errors. Understanding routing concepts such as areas, LSAs, neighbor relationships, and protocol operations is critical for efficient network management.</a:t>
            </a:r>
          </a:p>
          <a:p>
            <a:pPr>
              <a:buNone/>
            </a:pPr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IN" b="1" dirty="0"/>
              <a:t>Key Technologies Implemented: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Multi-Area OSPFv2 (IPv4)</a:t>
            </a:r>
            <a:br>
              <a:rPr lang="en-IN" dirty="0"/>
            </a:br>
            <a:r>
              <a:rPr lang="en-IN" dirty="0"/>
              <a:t>Link-state routing with backbone and non-backbone areas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OSPFv3 (IPv6)</a:t>
            </a:r>
            <a:br>
              <a:rPr lang="en-IN" dirty="0"/>
            </a:br>
            <a:r>
              <a:rPr lang="en-IN" dirty="0"/>
              <a:t>IPv6 routing and </a:t>
            </a:r>
            <a:r>
              <a:rPr lang="en-IN" dirty="0" err="1"/>
              <a:t>neighbor</a:t>
            </a:r>
            <a:r>
              <a:rPr lang="en-IN" dirty="0"/>
              <a:t> establishment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EIGRP Configuration</a:t>
            </a:r>
            <a:br>
              <a:rPr lang="en-IN" dirty="0"/>
            </a:br>
            <a:r>
              <a:rPr lang="en-IN" dirty="0"/>
              <a:t>Hybrid routing protocol with fast convergence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GRE Tunnel over OSPF</a:t>
            </a:r>
            <a:br>
              <a:rPr lang="en-IN" dirty="0"/>
            </a:br>
            <a:r>
              <a:rPr lang="en-IN" dirty="0"/>
              <a:t>Virtual point-to-point tunnel for secure reachability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NETCONF Automation using Python</a:t>
            </a:r>
            <a:br>
              <a:rPr lang="en-IN" dirty="0"/>
            </a:br>
            <a:r>
              <a:rPr lang="en-IN" dirty="0"/>
              <a:t>Automated OSPFv2 configuration push using </a:t>
            </a:r>
            <a:r>
              <a:rPr lang="en-IN" i="1" dirty="0" err="1"/>
              <a:t>ncclient</a:t>
            </a:r>
            <a:endParaRPr lang="en-IN" i="1" dirty="0"/>
          </a:p>
          <a:p>
            <a:endParaRPr lang="en-IN" dirty="0"/>
          </a:p>
          <a:p>
            <a:r>
              <a:rPr lang="en-IN" b="1" dirty="0"/>
              <a:t>Simulation Tool</a:t>
            </a:r>
          </a:p>
          <a:p>
            <a:r>
              <a:rPr lang="en-IN" b="1" dirty="0"/>
              <a:t>GNS3</a:t>
            </a:r>
            <a:r>
              <a:rPr lang="en-IN" dirty="0"/>
              <a:t> for network design, configuration, and testing</a:t>
            </a:r>
          </a:p>
          <a:p>
            <a:pPr>
              <a:buNone/>
            </a:pPr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4C33-269F-6245-FE3D-48FF5474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5A7F6F1-E3C1-C7FB-7FE7-24E1EDF8D18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Network Topology Diagram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6C71984-F4A8-77C3-8D98-877CA7361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E6F008E-FBBB-77AB-173A-FE6ABEC4679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5615C-E67C-35B4-6D41-5A94C09F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E7C13-CC72-9F32-6A4D-D2F895822E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21" t="14307" r="29104" b="12843"/>
          <a:stretch>
            <a:fillRect/>
          </a:stretch>
        </p:blipFill>
        <p:spPr>
          <a:xfrm>
            <a:off x="1259840" y="766147"/>
            <a:ext cx="8879840" cy="552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089D-EBFD-C96B-7644-270FB3FF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FBB8FE3-8943-1700-FBDC-334CCF459DF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IPv4  Addressing Plan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5E03736-177E-B758-A660-5DF177438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20FC302-CE1F-A445-FDB6-FBF8DB75288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320C5-8C63-2EEB-6366-DAA13209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1F2AED-B367-65A0-F2C4-D70C0623487D}"/>
              </a:ext>
            </a:extLst>
          </p:cNvPr>
          <p:cNvSpPr txBox="1"/>
          <p:nvPr/>
        </p:nvSpPr>
        <p:spPr>
          <a:xfrm>
            <a:off x="457904" y="1069043"/>
            <a:ext cx="117340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Device	Interface	IP Address	Subnet Mask</a:t>
            </a:r>
          </a:p>
          <a:p>
            <a:r>
              <a:rPr lang="en-US" dirty="0"/>
              <a:t>R3	Gi3 (LAN)	192.168.1.1	255.255.255.0</a:t>
            </a:r>
          </a:p>
          <a:p>
            <a:r>
              <a:rPr lang="en-US" dirty="0"/>
              <a:t>R3	Gi2 (to R1)	192.168.2.1	255.255.255.252</a:t>
            </a:r>
          </a:p>
          <a:p>
            <a:r>
              <a:rPr lang="en-US" dirty="0"/>
              <a:t>R1	e1/0 (to R3)	192.168.2.2	255.255.255.252</a:t>
            </a:r>
          </a:p>
          <a:p>
            <a:r>
              <a:rPr lang="en-US" dirty="0"/>
              <a:t>R1	e1/1 (to R2)	192.168.3.1	255.255.255.252</a:t>
            </a:r>
          </a:p>
          <a:p>
            <a:r>
              <a:rPr lang="en-US" dirty="0"/>
              <a:t>R2	e1/0 (to R1)	192.168.3.2	255.255.255.252</a:t>
            </a:r>
          </a:p>
          <a:p>
            <a:r>
              <a:rPr lang="en-US" dirty="0"/>
              <a:t>R2	e1/1 (LAN)	192.168.4.1	255.255.255.0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IPv4 Addressing Plan for PCs:</a:t>
            </a:r>
          </a:p>
          <a:p>
            <a:endParaRPr lang="en-US" dirty="0"/>
          </a:p>
          <a:p>
            <a:r>
              <a:rPr lang="en-US" dirty="0"/>
              <a:t>●	Left LAN (PC1–PC2–PC5 Network): 192.168.1.0/24</a:t>
            </a:r>
          </a:p>
          <a:p>
            <a:r>
              <a:rPr lang="en-US" dirty="0"/>
              <a:t>●	Right LAN (PC3–PC4–PC6 Network): 192.168.4.0/24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08352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B6A3-AD25-1526-56A6-1A7DA904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3BDDB2E-2028-9319-864E-53094DD89AB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Multi-Area OSPFv2 Config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9070F11-6F0C-F0A4-9B94-40DE69B7B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217D926-C88F-A0C3-9595-29DC0720474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03219-E206-77E2-1A6F-1BBFD5B7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1BF7C-902B-F7F3-294A-41C488585D75}"/>
              </a:ext>
            </a:extLst>
          </p:cNvPr>
          <p:cNvSpPr txBox="1"/>
          <p:nvPr/>
        </p:nvSpPr>
        <p:spPr>
          <a:xfrm>
            <a:off x="273075" y="766147"/>
            <a:ext cx="314503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Area Assignment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Left LAN → Area 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Backbone → Area 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Right LAN → Area 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B2A17B-5266-ECBA-0CD7-AB1F0FC7A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874" y="923046"/>
            <a:ext cx="6957526" cy="16401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53A825-B719-E7FC-5984-0DD499AC0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874" y="2702118"/>
            <a:ext cx="6957526" cy="14955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C483E2-BEB6-1214-5DAD-3DBFA25AD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874" y="4491366"/>
            <a:ext cx="7064829" cy="14955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D644A7-44D2-8231-A153-C6E03EF718F1}"/>
              </a:ext>
            </a:extLst>
          </p:cNvPr>
          <p:cNvSpPr txBox="1"/>
          <p:nvPr/>
        </p:nvSpPr>
        <p:spPr>
          <a:xfrm>
            <a:off x="273075" y="2265301"/>
            <a:ext cx="41516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Multi-Area OSPF is an OSPF design where the network is divided into multiple smaller areas instead of using a single large area . It improves scalability and performance by reducing routing overhead..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Area 0 = Backbone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areas connect through ABRs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LSDB size.</a:t>
            </a:r>
          </a:p>
        </p:txBody>
      </p:sp>
    </p:spTree>
    <p:extLst>
      <p:ext uri="{BB962C8B-B14F-4D97-AF65-F5344CB8AC3E}">
        <p14:creationId xmlns:p14="http://schemas.microsoft.com/office/powerpoint/2010/main" val="390570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D437-EB76-6F10-98AF-479C6DA5A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58DCEF6-50CC-66B9-1D5D-3B9EC99943E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Verification of OSPF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5963937-55D4-506E-C9B2-6F9895DA6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69D9163-9FA3-79A7-779C-EC319728C6F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619FD-E080-A3A0-181C-B72B0571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06C19-721A-A6A7-30EB-5238AB39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765" y="3410844"/>
            <a:ext cx="8358978" cy="13374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722D8A-5D5A-7A04-8494-9DC7F6652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75" y="4823015"/>
            <a:ext cx="8261325" cy="12921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D99E30-D9C6-4FE6-E28F-3CDC2AB3E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75" y="742863"/>
            <a:ext cx="6083613" cy="262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5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0485-5642-4D9C-4A67-C3DF55D4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650AA64-0E3D-0879-BB71-E7BBBA5F40F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OSPFv3 Implementation (IPv6 Routing)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A77647F-CA7E-7F1E-EE9F-CC8C97A99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050144C-7347-80E6-FE8E-1C5E5E30116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76A8-7C94-B41B-6682-E905EF3F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6570C-CA02-B581-2DC0-9CB6D1475D31}"/>
              </a:ext>
            </a:extLst>
          </p:cNvPr>
          <p:cNvSpPr txBox="1"/>
          <p:nvPr/>
        </p:nvSpPr>
        <p:spPr>
          <a:xfrm>
            <a:off x="273075" y="703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IPv6 Addressing Plan Used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E6B3DB-85B0-8B31-611B-10CDF8EF2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055769"/>
              </p:ext>
            </p:extLst>
          </p:nvPr>
        </p:nvGraphicFramePr>
        <p:xfrm>
          <a:off x="431513" y="1190404"/>
          <a:ext cx="3993244" cy="13876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8520">
                  <a:extLst>
                    <a:ext uri="{9D8B030D-6E8A-4147-A177-3AD203B41FA5}">
                      <a16:colId xmlns:a16="http://schemas.microsoft.com/office/drawing/2014/main" val="2096780711"/>
                    </a:ext>
                  </a:extLst>
                </a:gridCol>
                <a:gridCol w="2264724">
                  <a:extLst>
                    <a:ext uri="{9D8B030D-6E8A-4147-A177-3AD203B41FA5}">
                      <a16:colId xmlns:a16="http://schemas.microsoft.com/office/drawing/2014/main" val="4147363468"/>
                    </a:ext>
                  </a:extLst>
                </a:gridCol>
              </a:tblGrid>
              <a:tr h="2775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Link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IPv6 Network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extLst>
                  <a:ext uri="{0D108BD9-81ED-4DB2-BD59-A6C34878D82A}">
                    <a16:rowId xmlns:a16="http://schemas.microsoft.com/office/drawing/2014/main" val="488720127"/>
                  </a:ext>
                </a:extLst>
              </a:tr>
              <a:tr h="2775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Left LAN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2001:DB8:1::/64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extLst>
                  <a:ext uri="{0D108BD9-81ED-4DB2-BD59-A6C34878D82A}">
                    <a16:rowId xmlns:a16="http://schemas.microsoft.com/office/drawing/2014/main" val="2506493169"/>
                  </a:ext>
                </a:extLst>
              </a:tr>
              <a:tr h="2775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R3 ↔ R1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2001:DB8:12::/64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extLst>
                  <a:ext uri="{0D108BD9-81ED-4DB2-BD59-A6C34878D82A}">
                    <a16:rowId xmlns:a16="http://schemas.microsoft.com/office/drawing/2014/main" val="2644231245"/>
                  </a:ext>
                </a:extLst>
              </a:tr>
              <a:tr h="2775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R1 ↔ R2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2001:DB8:23::/64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extLst>
                  <a:ext uri="{0D108BD9-81ED-4DB2-BD59-A6C34878D82A}">
                    <a16:rowId xmlns:a16="http://schemas.microsoft.com/office/drawing/2014/main" val="179163684"/>
                  </a:ext>
                </a:extLst>
              </a:tr>
              <a:tr h="2775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Right LAN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2001:DB8:4::/64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12700"/>
                </a:tc>
                <a:extLst>
                  <a:ext uri="{0D108BD9-81ED-4DB2-BD59-A6C34878D82A}">
                    <a16:rowId xmlns:a16="http://schemas.microsoft.com/office/drawing/2014/main" val="1666459100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880FC9B-F7EC-4500-CCD5-24E1B676F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67" y="1993901"/>
            <a:ext cx="7166320" cy="39112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05E640-1B4F-BE49-8452-15776D9A2BF4}"/>
              </a:ext>
            </a:extLst>
          </p:cNvPr>
          <p:cNvSpPr txBox="1"/>
          <p:nvPr/>
        </p:nvSpPr>
        <p:spPr>
          <a:xfrm>
            <a:off x="4814694" y="1480455"/>
            <a:ext cx="6716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187CC"/>
                </a:solidFill>
              </a:rPr>
              <a:t>OSPFv3 (IPv6) Routing Configuration :</a:t>
            </a:r>
            <a:endParaRPr lang="en-IN" sz="2400" dirty="0">
              <a:solidFill>
                <a:srgbClr val="0187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54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B9AD-8375-B8CD-7DDC-9814D7EB1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68D42DA-B3C2-A4A9-2D7D-FAD153CCEFE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OSPFv3 (IPv6) Routing Configuration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EE5B8C7-A47E-D0E8-2A65-AA3EB0701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6CED123-FC1A-1752-E67F-EF2BF308B11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E8910-5FFC-B9C6-0179-3A75C7EE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FF564-5F8B-3284-3EC6-544FEE787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94" y="1085958"/>
            <a:ext cx="10964557" cy="457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DDF4-B781-A67B-B0AF-22411036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4953461-E1BF-3B45-DA2E-333988009806}"/>
              </a:ext>
            </a:extLst>
          </p:cNvPr>
          <p:cNvSpPr/>
          <p:nvPr/>
        </p:nvSpPr>
        <p:spPr>
          <a:xfrm>
            <a:off x="308008" y="211475"/>
            <a:ext cx="10067632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Verification of OSPFv3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813EA5C-4B50-456A-45C8-A00349833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3AAEA10-0DA0-3766-6DB2-A40E4C9814A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9E2F6-302C-6249-DF01-534D357F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CEAD8-7B5B-229C-BB15-4731E8CB65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27" b="8214"/>
          <a:stretch>
            <a:fillRect/>
          </a:stretch>
        </p:blipFill>
        <p:spPr>
          <a:xfrm>
            <a:off x="308008" y="781813"/>
            <a:ext cx="11546234" cy="555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8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B7C85-314F-EB8F-4082-C2232978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C1C704A-ED1A-19B3-ED98-257E7E3079FC}"/>
              </a:ext>
            </a:extLst>
          </p:cNvPr>
          <p:cNvSpPr/>
          <p:nvPr/>
        </p:nvSpPr>
        <p:spPr>
          <a:xfrm>
            <a:off x="308008" y="211475"/>
            <a:ext cx="10067632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EIGRP</a:t>
            </a:r>
          </a:p>
          <a:p>
            <a:pPr>
              <a:spcBef>
                <a:spcPct val="0"/>
              </a:spcBef>
            </a:pP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2CF311F-F3C6-5EAF-F31E-9C67803ED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2F86D5B-E3EC-1774-3BB1-5902FE67673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04480-33B2-01F5-3108-567D4F7A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CB224-3843-1D7C-5644-A3E757013610}"/>
              </a:ext>
            </a:extLst>
          </p:cNvPr>
          <p:cNvSpPr txBox="1"/>
          <p:nvPr/>
        </p:nvSpPr>
        <p:spPr>
          <a:xfrm>
            <a:off x="234215" y="796924"/>
            <a:ext cx="9371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EIGRP (Enhanced Interior Gateway Routing Protocol)</a:t>
            </a:r>
            <a:r>
              <a:rPr lang="en-US" dirty="0"/>
              <a:t> is a Cisco-developed dynamic routing protocol used to share routing information between routers within the same autonomous system (AS).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ED528-B74C-77C9-1C31-D751926036D1}"/>
              </a:ext>
            </a:extLst>
          </p:cNvPr>
          <p:cNvSpPr txBox="1"/>
          <p:nvPr/>
        </p:nvSpPr>
        <p:spPr>
          <a:xfrm>
            <a:off x="308007" y="2022028"/>
            <a:ext cx="71034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Characteristics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Uses </a:t>
            </a:r>
            <a:r>
              <a:rPr lang="en-US" b="1" dirty="0"/>
              <a:t>DUAL (Diffusing Update Algorithm)</a:t>
            </a:r>
          </a:p>
          <a:p>
            <a:r>
              <a:rPr lang="en-US" b="1" dirty="0"/>
              <a:t>                  finds best path </a:t>
            </a:r>
          </a:p>
          <a:p>
            <a:r>
              <a:rPr lang="en-US" b="1" dirty="0"/>
              <a:t>                  find backup path</a:t>
            </a:r>
          </a:p>
          <a:p>
            <a:r>
              <a:rPr lang="en-US" b="1" dirty="0"/>
              <a:t>                  prevent routing loops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Provides </a:t>
            </a:r>
            <a:r>
              <a:rPr lang="en-US" b="1" dirty="0"/>
              <a:t>fast convergence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Uses </a:t>
            </a:r>
            <a:r>
              <a:rPr lang="en-US" b="1" dirty="0"/>
              <a:t>Bandwidth and Delay</a:t>
            </a:r>
            <a:r>
              <a:rPr lang="en-US" dirty="0"/>
              <a:t> to calculate best path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Maintains </a:t>
            </a:r>
            <a:r>
              <a:rPr lang="en-US" b="1" dirty="0"/>
              <a:t>Neighbor Table, Topology Table, and Routing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2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063A1-7362-E5BB-B736-5612E085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25DFAA58-1FD7-5D99-68C0-3ADEA415FC5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EIGRP AS 100 Configuration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17575C7-7031-E832-08C4-62F45E038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B5E4F51-0D29-B49F-5C0D-AF4EF17146A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28CA8-B02B-20C8-16D2-1719760D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E7C0E-8A69-3A62-C188-68BFD085B0C6}"/>
              </a:ext>
            </a:extLst>
          </p:cNvPr>
          <p:cNvSpPr txBox="1"/>
          <p:nvPr/>
        </p:nvSpPr>
        <p:spPr>
          <a:xfrm>
            <a:off x="273075" y="70391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187CC"/>
                </a:solidFill>
              </a:rPr>
              <a:t>Enable EIGRP AS 100 on Routers</a:t>
            </a:r>
            <a:endParaRPr lang="en-IN" dirty="0">
              <a:solidFill>
                <a:srgbClr val="0187CC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663586-3919-BF76-F92A-A53C98FBEA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1" r="2199" b="7315"/>
          <a:stretch>
            <a:fillRect/>
          </a:stretch>
        </p:blipFill>
        <p:spPr>
          <a:xfrm>
            <a:off x="1607419" y="1071325"/>
            <a:ext cx="10206444" cy="532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58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8387-CE9C-AAFA-8645-5CEF994D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5732AC5-485A-F3A9-6D66-D5012FF99DD0}"/>
              </a:ext>
            </a:extLst>
          </p:cNvPr>
          <p:cNvSpPr/>
          <p:nvPr/>
        </p:nvSpPr>
        <p:spPr>
          <a:xfrm>
            <a:off x="213360" y="211475"/>
            <a:ext cx="101622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Verification of EIGRP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C519F61-3058-80B8-F809-4744F55FD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E1D6889-7AF6-4ABA-84F4-FF92648CCAD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89CDB-F322-E7F1-2CEE-088406EA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4A101-6244-9197-D696-C757F7345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9" r="2240" b="20307"/>
          <a:stretch>
            <a:fillRect/>
          </a:stretch>
        </p:blipFill>
        <p:spPr>
          <a:xfrm>
            <a:off x="136537" y="859829"/>
            <a:ext cx="11918925" cy="529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7E10-2A4F-1903-C9C4-25040AC1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7A1710F2-54EE-94C4-AD73-6A0E214F969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nb-NO" sz="3200" b="1" dirty="0">
                <a:solidFill>
                  <a:srgbClr val="0187CC"/>
                </a:solidFill>
                <a:latin typeface="HK Grotesk Bold"/>
              </a:rPr>
              <a:t>GRE Tunnel Over OSPF (R2 ↔ R3)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9C78B48-41CB-430A-0231-DEBD47C06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34D08B0-E7AE-E39D-88F2-1EB752855C8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7DC45-33B8-FE0A-2F0E-041ED343C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92F24-0FED-BA8B-E3AE-C906B328CCE6}"/>
              </a:ext>
            </a:extLst>
          </p:cNvPr>
          <p:cNvSpPr txBox="1"/>
          <p:nvPr/>
        </p:nvSpPr>
        <p:spPr>
          <a:xfrm>
            <a:off x="273074" y="703918"/>
            <a:ext cx="8716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Tunnel Network: 10.10.10.0/30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GRE (Generic Routing Encapsulation) creates a virtual tunnel between R2 and R3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Runs over the existing OSPF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networkEncapsulates</a:t>
            </a:r>
            <a:r>
              <a:rPr lang="en-US" dirty="0"/>
              <a:t> packets to allow communication between remote networks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50771C-720B-1A42-90B3-4A4C03387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398" y="2172396"/>
            <a:ext cx="6946202" cy="39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69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84C4-3A1D-4214-3A75-422FA083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5509E14B-5A2E-CE54-F622-D897220EE66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nb-NO" sz="3200" b="1" dirty="0">
                <a:solidFill>
                  <a:srgbClr val="0187CC"/>
                </a:solidFill>
                <a:latin typeface="HK Grotesk Bold"/>
              </a:rPr>
              <a:t>GRE Tunnel Over OSPF (R2 ↔ R3)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6C62ECA-B2BD-3F0D-4486-6ACA52BD2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8D85BDC-5F0D-E4D6-A978-E97F139D01B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421AA-4835-6474-0367-9DF2A5BF9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3B7E0-7BA0-1AF3-0EFC-BBB191675112}"/>
              </a:ext>
            </a:extLst>
          </p:cNvPr>
          <p:cNvSpPr txBox="1"/>
          <p:nvPr/>
        </p:nvSpPr>
        <p:spPr>
          <a:xfrm>
            <a:off x="273075" y="703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Tunnel Network: 10.10.10.0/30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7BB5C8-D22B-E653-7ACD-1C4EC1304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0" t="8175" r="2241" b="30283"/>
          <a:stretch>
            <a:fillRect/>
          </a:stretch>
        </p:blipFill>
        <p:spPr>
          <a:xfrm>
            <a:off x="190852" y="1196361"/>
            <a:ext cx="11810295" cy="37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9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BC1E-3D7B-DFD8-4089-0E5C1D77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D475068-B16A-52F8-4CBE-15C169290B2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Verification of GRE Tunnel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6764534-6CC7-2CC6-78CC-8A81075E4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77DBE0F-E0EC-9789-B9AD-240476A2176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26B00-7D0D-B26F-58CE-F122C5BF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D82A09-03F1-215F-71EE-F4FA352AE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0" t="6727" r="2241" b="32192"/>
          <a:stretch>
            <a:fillRect/>
          </a:stretch>
        </p:blipFill>
        <p:spPr>
          <a:xfrm>
            <a:off x="190852" y="1188720"/>
            <a:ext cx="11810295" cy="40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0D7F7-38A9-DA15-34E0-431079E5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522BD8F-7F1C-0184-69B9-ED6F087A6DA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NETCONF Automation Script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1615964-D2B1-90B6-9625-64464F87B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12C8977-E2B2-0B13-F43E-0CFAF187F1C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F7FDD-B621-05AC-A1C1-4DF2E807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B9CC4-B32F-89ED-4F05-89EF63C93C62}"/>
              </a:ext>
            </a:extLst>
          </p:cNvPr>
          <p:cNvSpPr txBox="1"/>
          <p:nvPr/>
        </p:nvSpPr>
        <p:spPr>
          <a:xfrm>
            <a:off x="273075" y="703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0187CC"/>
                </a:solidFill>
              </a:rPr>
              <a:t>Enable NETCONF on Routers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F1387-81BB-6F0A-BC23-8F406BFC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9" t="29120" r="45726" b="17686"/>
          <a:stretch>
            <a:fillRect/>
          </a:stretch>
        </p:blipFill>
        <p:spPr>
          <a:xfrm>
            <a:off x="273075" y="1055273"/>
            <a:ext cx="9313687" cy="52568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3B003B-7556-166E-5F63-A133D29CAFA5}"/>
                  </a:ext>
                </a:extLst>
              </p14:cNvPr>
              <p14:cNvContentPartPr/>
              <p14:nvPr/>
            </p14:nvContentPartPr>
            <p14:xfrm>
              <a:off x="1607021" y="1665095"/>
              <a:ext cx="1472400" cy="67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3B003B-7556-166E-5F63-A133D29CAF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3381" y="1557095"/>
                <a:ext cx="158004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CEE820-90D0-8134-CA25-A165A59F931A}"/>
                  </a:ext>
                </a:extLst>
              </p14:cNvPr>
              <p14:cNvContentPartPr/>
              <p14:nvPr/>
            </p14:nvContentPartPr>
            <p14:xfrm>
              <a:off x="1634741" y="1798655"/>
              <a:ext cx="3855960" cy="176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CEE820-90D0-8134-CA25-A165A59F93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0741" y="1690655"/>
                <a:ext cx="396360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878DAC-B5A4-AE76-6A2D-D501605720B4}"/>
                  </a:ext>
                </a:extLst>
              </p14:cNvPr>
              <p14:cNvContentPartPr/>
              <p14:nvPr/>
            </p14:nvContentPartPr>
            <p14:xfrm>
              <a:off x="4232141" y="1846895"/>
              <a:ext cx="937080" cy="78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878DAC-B5A4-AE76-6A2D-D501605720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78141" y="1739255"/>
                <a:ext cx="104472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27C557-C67B-8C85-3A9F-9D5D4B923EDA}"/>
                  </a:ext>
                </a:extLst>
              </p14:cNvPr>
              <p14:cNvContentPartPr/>
              <p14:nvPr/>
            </p14:nvContentPartPr>
            <p14:xfrm>
              <a:off x="1614581" y="3444935"/>
              <a:ext cx="4256280" cy="126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27C557-C67B-8C85-3A9F-9D5D4B923E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60581" y="3336935"/>
                <a:ext cx="43639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246828-30B0-6950-AB7A-BF9FA02A3485}"/>
                  </a:ext>
                </a:extLst>
              </p14:cNvPr>
              <p14:cNvContentPartPr/>
              <p14:nvPr/>
            </p14:nvContentPartPr>
            <p14:xfrm>
              <a:off x="1645541" y="6111815"/>
              <a:ext cx="525636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246828-30B0-6950-AB7A-BF9FA02A34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91901" y="5895815"/>
                <a:ext cx="5364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402CE78-AEC4-53BD-EC62-83562774F4A4}"/>
                  </a:ext>
                </a:extLst>
              </p14:cNvPr>
              <p14:cNvContentPartPr/>
              <p14:nvPr/>
            </p14:nvContentPartPr>
            <p14:xfrm>
              <a:off x="3128021" y="6139895"/>
              <a:ext cx="1363320" cy="30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402CE78-AEC4-53BD-EC62-83562774F4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74021" y="6031895"/>
                <a:ext cx="1470960" cy="2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9592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0BF8-591C-1918-2067-ECC9C09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89AD7C28-CE32-7AA8-CE4F-A1C5E75C8FC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NETCONF Automation Script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3249030-7101-72A5-81A6-CF7502876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CAB31E3-71F3-B7E9-F5CC-2B2313891B8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3D493-2975-1CA5-9D21-3F58FC3C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2365C-7695-F923-D24E-0C5B149FC3C4}"/>
              </a:ext>
            </a:extLst>
          </p:cNvPr>
          <p:cNvSpPr txBox="1"/>
          <p:nvPr/>
        </p:nvSpPr>
        <p:spPr>
          <a:xfrm>
            <a:off x="273075" y="703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Enable NETCONF on Routers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C49E74-081D-8A46-BCEE-B767A148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540"/>
          <a:stretch>
            <a:fillRect/>
          </a:stretch>
        </p:blipFill>
        <p:spPr>
          <a:xfrm>
            <a:off x="1500863" y="1337162"/>
            <a:ext cx="7646988" cy="36679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18850E-8011-7DA4-E3C1-42CDEEF02295}"/>
                  </a:ext>
                </a:extLst>
              </p14:cNvPr>
              <p14:cNvContentPartPr/>
              <p14:nvPr/>
            </p14:nvContentPartPr>
            <p14:xfrm>
              <a:off x="2569661" y="2560055"/>
              <a:ext cx="134352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18850E-8011-7DA4-E3C1-42CDEEF022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5661" y="2452055"/>
                <a:ext cx="1451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F53405-93BA-EE4C-8286-2EA8D11D4580}"/>
                  </a:ext>
                </a:extLst>
              </p14:cNvPr>
              <p14:cNvContentPartPr/>
              <p14:nvPr/>
            </p14:nvContentPartPr>
            <p14:xfrm>
              <a:off x="3070061" y="4523855"/>
              <a:ext cx="11545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F53405-93BA-EE4C-8286-2EA8D11D45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16061" y="4415855"/>
                <a:ext cx="1262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70C4574-BBE5-95EF-57E2-7ADEAD8D214C}"/>
                  </a:ext>
                </a:extLst>
              </p14:cNvPr>
              <p14:cNvContentPartPr/>
              <p14:nvPr/>
            </p14:nvContentPartPr>
            <p14:xfrm>
              <a:off x="2997341" y="4598375"/>
              <a:ext cx="1995480" cy="30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70C4574-BBE5-95EF-57E2-7ADEAD8D21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43701" y="4490375"/>
                <a:ext cx="2103120" cy="51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00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6DC7-6137-F566-FEE9-7835CC3B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FAD0E36-0099-1E51-4415-557F6A9282D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TEST NETCONF CONNECTION using Python Script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BCDDF6-A0AF-C4E9-0732-289E9D95A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0761B75-6B2F-03EE-85F1-D9FAFBE9C01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6AC66-6B41-9E16-AF67-BD9162A8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0A0EC-4DF6-92EF-C9F7-CF6719BF35DD}"/>
              </a:ext>
            </a:extLst>
          </p:cNvPr>
          <p:cNvSpPr txBox="1"/>
          <p:nvPr/>
        </p:nvSpPr>
        <p:spPr>
          <a:xfrm>
            <a:off x="273075" y="76902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PYTHON Library used : </a:t>
            </a:r>
            <a:r>
              <a:rPr lang="en-US" dirty="0" err="1"/>
              <a:t>ncclient</a:t>
            </a:r>
            <a:endParaRPr lang="en-US" dirty="0"/>
          </a:p>
          <a:p>
            <a:r>
              <a:rPr lang="en-US" b="1" dirty="0"/>
              <a:t>NETCONF Connection Script:</a:t>
            </a:r>
          </a:p>
          <a:p>
            <a:r>
              <a:rPr lang="en-US" b="1" dirty="0"/>
              <a:t>- Connect to router using </a:t>
            </a:r>
            <a:r>
              <a:rPr lang="en-US" b="1" dirty="0" err="1"/>
              <a:t>ncclient</a:t>
            </a:r>
            <a:r>
              <a:rPr lang="en-US" b="1" dirty="0"/>
              <a:t> manager</a:t>
            </a:r>
          </a:p>
          <a:p>
            <a:r>
              <a:rPr lang="en-US" b="1" dirty="0"/>
              <a:t>- Verify server capabilities</a:t>
            </a:r>
          </a:p>
          <a:p>
            <a:r>
              <a:rPr lang="en-US" b="1" dirty="0"/>
              <a:t>- Close session after 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D4F97-FA2C-6540-7645-7EFDEED279F4}"/>
              </a:ext>
            </a:extLst>
          </p:cNvPr>
          <p:cNvSpPr txBox="1"/>
          <p:nvPr/>
        </p:nvSpPr>
        <p:spPr>
          <a:xfrm>
            <a:off x="1228459" y="3101947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ncclient</a:t>
            </a:r>
            <a:r>
              <a:rPr lang="en-IN" dirty="0"/>
              <a:t> import manager</a:t>
            </a:r>
          </a:p>
          <a:p>
            <a:r>
              <a:rPr lang="en-IN" dirty="0"/>
              <a:t>router = </a:t>
            </a:r>
            <a:r>
              <a:rPr lang="en-IN" dirty="0" err="1"/>
              <a:t>manager.connect</a:t>
            </a:r>
            <a:r>
              <a:rPr lang="en-IN" dirty="0"/>
              <a:t>(</a:t>
            </a:r>
          </a:p>
          <a:p>
            <a:r>
              <a:rPr lang="en-IN" dirty="0"/>
              <a:t>host="172.20.0.210",</a:t>
            </a:r>
          </a:p>
          <a:p>
            <a:r>
              <a:rPr lang="en-IN" dirty="0"/>
              <a:t>port=830,</a:t>
            </a:r>
          </a:p>
          <a:p>
            <a:r>
              <a:rPr lang="en-IN" dirty="0"/>
              <a:t>username="</a:t>
            </a:r>
            <a:r>
              <a:rPr lang="en-IN" dirty="0" err="1"/>
              <a:t>wipro</a:t>
            </a:r>
            <a:r>
              <a:rPr lang="en-IN" dirty="0"/>
              <a:t>",</a:t>
            </a:r>
          </a:p>
          <a:p>
            <a:r>
              <a:rPr lang="en-IN" dirty="0"/>
              <a:t>password="cisco123",</a:t>
            </a:r>
          </a:p>
          <a:p>
            <a:r>
              <a:rPr lang="en-IN" dirty="0" err="1"/>
              <a:t>hostkey_verify</a:t>
            </a:r>
            <a:r>
              <a:rPr lang="en-IN" dirty="0"/>
              <a:t>=False,</a:t>
            </a:r>
          </a:p>
          <a:p>
            <a:r>
              <a:rPr lang="en-IN" dirty="0" err="1"/>
              <a:t>allow_agent</a:t>
            </a:r>
            <a:r>
              <a:rPr lang="en-IN" dirty="0"/>
              <a:t> = False,</a:t>
            </a:r>
          </a:p>
          <a:p>
            <a:r>
              <a:rPr lang="en-IN" dirty="0" err="1"/>
              <a:t>look_for_keys</a:t>
            </a:r>
            <a:r>
              <a:rPr lang="en-IN" dirty="0"/>
              <a:t> = False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print("Connected successfully!")</a:t>
            </a:r>
          </a:p>
          <a:p>
            <a:r>
              <a:rPr lang="en-IN" dirty="0"/>
              <a:t>print(</a:t>
            </a:r>
            <a:r>
              <a:rPr lang="en-IN" dirty="0" err="1"/>
              <a:t>router.server_capabilities</a:t>
            </a:r>
            <a:r>
              <a:rPr lang="en-IN" dirty="0"/>
              <a:t>)</a:t>
            </a:r>
          </a:p>
          <a:p>
            <a:r>
              <a:rPr lang="en-IN" dirty="0" err="1"/>
              <a:t>router.close_session</a:t>
            </a:r>
            <a:r>
              <a:rPr lang="en-IN" dirty="0"/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6D7414-3F32-883D-84EA-093E9E2E04E0}"/>
              </a:ext>
            </a:extLst>
          </p:cNvPr>
          <p:cNvSpPr txBox="1"/>
          <p:nvPr/>
        </p:nvSpPr>
        <p:spPr>
          <a:xfrm>
            <a:off x="658144" y="27810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Python Script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50CE26-1AF7-38A7-E40C-AAF6ED357A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50810" r="49985" b="33060"/>
          <a:stretch>
            <a:fillRect/>
          </a:stretch>
        </p:blipFill>
        <p:spPr>
          <a:xfrm>
            <a:off x="4898820" y="2090727"/>
            <a:ext cx="6944256" cy="1470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DF6652-296C-52F3-CA22-2AC4D815F493}"/>
              </a:ext>
            </a:extLst>
          </p:cNvPr>
          <p:cNvSpPr txBox="1"/>
          <p:nvPr/>
        </p:nvSpPr>
        <p:spPr>
          <a:xfrm>
            <a:off x="4810226" y="1423293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187CC"/>
                </a:solidFill>
                <a:effectLst/>
                <a:uLnTx/>
                <a:uFillTx/>
                <a:latin typeface="HK Grotesk Bold"/>
                <a:ea typeface="+mn-ea"/>
                <a:cs typeface="+mn-cs"/>
              </a:rPr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4078899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4B1E9-D947-6622-7636-138404AC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7626616-B8BF-EAC7-CCEA-AC6DC7EA824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Python Script  — Push OSPFv2 Using NETCONF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D31766A-CE8C-85D6-E5AD-F6BECA94F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DE8B440-2974-D01B-5747-78AD94BD29E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61716-1048-BCAF-44E2-0971CA88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7A0FE-E924-F1F2-9A8B-5847A0B7F46A}"/>
              </a:ext>
            </a:extLst>
          </p:cNvPr>
          <p:cNvSpPr txBox="1"/>
          <p:nvPr/>
        </p:nvSpPr>
        <p:spPr>
          <a:xfrm>
            <a:off x="273075" y="703918"/>
            <a:ext cx="943881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900" b="1" dirty="0"/>
              <a:t>Connect to router using </a:t>
            </a:r>
            <a:r>
              <a:rPr lang="en-US" sz="1900" b="1" dirty="0" err="1"/>
              <a:t>ncclient</a:t>
            </a:r>
            <a:r>
              <a:rPr lang="en-US" sz="1900" b="1" dirty="0"/>
              <a:t> manager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900" b="1" dirty="0"/>
              <a:t>Verify server capabilities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900" b="1" dirty="0"/>
              <a:t>Use edit-config operation to apply OSPFv2 configuration to the running datastore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900" b="1" dirty="0"/>
              <a:t>Close session after 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361E2-485B-3CE6-002B-AD3124D0614A}"/>
              </a:ext>
            </a:extLst>
          </p:cNvPr>
          <p:cNvSpPr txBox="1"/>
          <p:nvPr/>
        </p:nvSpPr>
        <p:spPr>
          <a:xfrm>
            <a:off x="766333" y="2673689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ncclient</a:t>
            </a:r>
            <a:r>
              <a:rPr lang="en-IN" dirty="0"/>
              <a:t> import manager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ROUTER_IP = "172.20.0.210"</a:t>
            </a:r>
          </a:p>
          <a:p>
            <a:r>
              <a:rPr lang="en-IN" dirty="0"/>
              <a:t>USERNAME = "</a:t>
            </a:r>
            <a:r>
              <a:rPr lang="en-IN" dirty="0" err="1"/>
              <a:t>wipro</a:t>
            </a:r>
            <a:r>
              <a:rPr lang="en-IN" dirty="0"/>
              <a:t>"</a:t>
            </a:r>
          </a:p>
          <a:p>
            <a:r>
              <a:rPr lang="en-IN" dirty="0"/>
              <a:t>PASSWORD = "cisco123"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ospfv2_config = """</a:t>
            </a:r>
          </a:p>
          <a:p>
            <a:r>
              <a:rPr lang="en-IN" dirty="0"/>
              <a:t>&lt;config&gt;</a:t>
            </a:r>
          </a:p>
          <a:p>
            <a:r>
              <a:rPr lang="en-IN" dirty="0"/>
              <a:t>  &lt;native </a:t>
            </a:r>
            <a:r>
              <a:rPr lang="en-IN" dirty="0" err="1"/>
              <a:t>xmlns</a:t>
            </a:r>
            <a:r>
              <a:rPr lang="en-IN" dirty="0"/>
              <a:t>="http://cisco.com/ns/yang/Cisco-IOS-XE-native"&gt;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	&lt;router&gt;</a:t>
            </a:r>
          </a:p>
          <a:p>
            <a:r>
              <a:rPr lang="en-IN" dirty="0"/>
              <a:t>  	&lt;</a:t>
            </a:r>
            <a:r>
              <a:rPr lang="en-IN" dirty="0" err="1"/>
              <a:t>ospf</a:t>
            </a:r>
            <a:r>
              <a:rPr lang="en-IN" dirty="0"/>
              <a:t> </a:t>
            </a:r>
            <a:r>
              <a:rPr lang="en-IN" dirty="0" err="1"/>
              <a:t>xmlns</a:t>
            </a:r>
            <a:r>
              <a:rPr lang="en-IN" dirty="0"/>
              <a:t>="http://cisco.com/ns/yang/Cisco-IOS-XE-</a:t>
            </a:r>
            <a:r>
              <a:rPr lang="en-IN" dirty="0" err="1"/>
              <a:t>ospf</a:t>
            </a:r>
            <a:r>
              <a:rPr lang="en-IN" dirty="0"/>
              <a:t>"&gt;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5095F-B0DD-AA9F-F793-1A1005AA6994}"/>
              </a:ext>
            </a:extLst>
          </p:cNvPr>
          <p:cNvSpPr txBox="1"/>
          <p:nvPr/>
        </p:nvSpPr>
        <p:spPr>
          <a:xfrm>
            <a:off x="431513" y="2304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Python Script</a:t>
            </a:r>
          </a:p>
        </p:txBody>
      </p:sp>
    </p:spTree>
    <p:extLst>
      <p:ext uri="{BB962C8B-B14F-4D97-AF65-F5344CB8AC3E}">
        <p14:creationId xmlns:p14="http://schemas.microsoft.com/office/powerpoint/2010/main" val="2805890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72B09-A97F-EDE7-2230-512406C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8D291BC-9670-1C2C-01C9-779D95A57C8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Python Script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60AC8EB-799B-37B7-6043-8472440A9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6E6EA0E-0938-7321-4C17-C5799724569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29C8B-3806-2817-8343-05609A33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CE826-AEB3-FA8E-3CFF-0A9EF4C11155}"/>
              </a:ext>
            </a:extLst>
          </p:cNvPr>
          <p:cNvSpPr txBox="1"/>
          <p:nvPr/>
        </p:nvSpPr>
        <p:spPr>
          <a:xfrm>
            <a:off x="754396" y="703918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&lt;id&gt;1&lt;/id&gt;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    &lt;router-id&gt;1.1.1.1&lt;/router-id&gt;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    &lt;network&gt;</a:t>
            </a:r>
          </a:p>
          <a:p>
            <a:r>
              <a:rPr lang="en-IN" dirty="0"/>
              <a:t>          &lt;</a:t>
            </a:r>
            <a:r>
              <a:rPr lang="en-IN" dirty="0" err="1"/>
              <a:t>ip</a:t>
            </a:r>
            <a:r>
              <a:rPr lang="en-IN" dirty="0"/>
              <a:t>&gt;192.168.1.0&lt;/</a:t>
            </a:r>
            <a:r>
              <a:rPr lang="en-IN" dirty="0" err="1"/>
              <a:t>ip</a:t>
            </a:r>
            <a:r>
              <a:rPr lang="en-IN" dirty="0"/>
              <a:t>&gt;</a:t>
            </a:r>
          </a:p>
          <a:p>
            <a:r>
              <a:rPr lang="en-IN" dirty="0"/>
              <a:t>          &lt;mask&gt;0.0.0.255&lt;/mask&gt;</a:t>
            </a:r>
          </a:p>
          <a:p>
            <a:r>
              <a:rPr lang="en-IN" dirty="0"/>
              <a:t>          &lt;area&gt;0&lt;/area&gt;</a:t>
            </a:r>
          </a:p>
          <a:p>
            <a:r>
              <a:rPr lang="en-IN" dirty="0"/>
              <a:t>        &lt;/network&gt;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    &lt;network&gt;</a:t>
            </a:r>
          </a:p>
          <a:p>
            <a:r>
              <a:rPr lang="en-IN" dirty="0"/>
              <a:t>          &lt;</a:t>
            </a:r>
            <a:r>
              <a:rPr lang="en-IN" dirty="0" err="1"/>
              <a:t>ip</a:t>
            </a:r>
            <a:r>
              <a:rPr lang="en-IN" dirty="0"/>
              <a:t>&gt;192.168.2.0&lt;/</a:t>
            </a:r>
            <a:r>
              <a:rPr lang="en-IN" dirty="0" err="1"/>
              <a:t>ip</a:t>
            </a:r>
            <a:r>
              <a:rPr lang="en-IN" dirty="0"/>
              <a:t>&gt;</a:t>
            </a:r>
          </a:p>
          <a:p>
            <a:r>
              <a:rPr lang="en-IN" dirty="0"/>
              <a:t>          &lt;mask&gt;0.0.0.255&lt;/mask&gt;</a:t>
            </a:r>
          </a:p>
          <a:p>
            <a:r>
              <a:rPr lang="en-IN" dirty="0"/>
              <a:t>          &lt;area&gt;0&lt;/area&gt;</a:t>
            </a:r>
          </a:p>
          <a:p>
            <a:r>
              <a:rPr lang="en-IN" dirty="0"/>
              <a:t>        &lt;/network&gt;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	&lt;/</a:t>
            </a:r>
            <a:r>
              <a:rPr lang="en-IN" dirty="0" err="1"/>
              <a:t>ospf</a:t>
            </a:r>
            <a:r>
              <a:rPr lang="en-IN" dirty="0"/>
              <a:t>&gt;</a:t>
            </a:r>
          </a:p>
          <a:p>
            <a:r>
              <a:rPr lang="en-IN" dirty="0"/>
              <a:t>	&lt;/router&gt;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&lt;/native&gt;</a:t>
            </a:r>
          </a:p>
          <a:p>
            <a:r>
              <a:rPr lang="en-IN" dirty="0"/>
              <a:t>&lt;/config&gt;</a:t>
            </a:r>
          </a:p>
          <a:p>
            <a:r>
              <a:rPr lang="en-IN" dirty="0"/>
              <a:t>"""</a:t>
            </a:r>
          </a:p>
          <a:p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2208C-08D7-BB76-5059-F5208D1875E1}"/>
              </a:ext>
            </a:extLst>
          </p:cNvPr>
          <p:cNvSpPr txBox="1"/>
          <p:nvPr/>
        </p:nvSpPr>
        <p:spPr>
          <a:xfrm>
            <a:off x="6096000" y="116684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 </a:t>
            </a:r>
            <a:r>
              <a:rPr lang="en-IN" dirty="0" err="1"/>
              <a:t>manager.connect</a:t>
            </a:r>
            <a:r>
              <a:rPr lang="en-IN" dirty="0"/>
              <a:t>(</a:t>
            </a:r>
          </a:p>
          <a:p>
            <a:r>
              <a:rPr lang="en-IN" dirty="0"/>
              <a:t>	host=ROUTER_IP,</a:t>
            </a:r>
          </a:p>
          <a:p>
            <a:r>
              <a:rPr lang="en-IN" dirty="0"/>
              <a:t>	port=830,</a:t>
            </a:r>
          </a:p>
          <a:p>
            <a:r>
              <a:rPr lang="en-IN" dirty="0"/>
              <a:t>	username=USERNAME,</a:t>
            </a:r>
          </a:p>
          <a:p>
            <a:r>
              <a:rPr lang="en-IN" dirty="0"/>
              <a:t>	password=PASSWORD,</a:t>
            </a:r>
          </a:p>
          <a:p>
            <a:r>
              <a:rPr lang="en-IN" dirty="0"/>
              <a:t>    </a:t>
            </a:r>
            <a:r>
              <a:rPr lang="en-IN" dirty="0" err="1"/>
              <a:t>hostkey_verify</a:t>
            </a:r>
            <a:r>
              <a:rPr lang="en-IN" dirty="0"/>
              <a:t>=False</a:t>
            </a:r>
          </a:p>
          <a:p>
            <a:r>
              <a:rPr lang="en-IN" dirty="0"/>
              <a:t>) as m: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	print("✅ Connected to Router3 NETCONF")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	response = </a:t>
            </a:r>
            <a:r>
              <a:rPr lang="en-IN" dirty="0" err="1"/>
              <a:t>m.edit_config</a:t>
            </a:r>
            <a:r>
              <a:rPr lang="en-IN" dirty="0"/>
              <a:t>(target="running", config=ospfv2_config)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	print("✅ OSPFv2 Configuration Pushed Successfully!")</a:t>
            </a:r>
          </a:p>
          <a:p>
            <a:r>
              <a:rPr lang="en-IN" dirty="0"/>
              <a:t>	print(response)</a:t>
            </a:r>
          </a:p>
        </p:txBody>
      </p:sp>
    </p:spTree>
    <p:extLst>
      <p:ext uri="{BB962C8B-B14F-4D97-AF65-F5344CB8AC3E}">
        <p14:creationId xmlns:p14="http://schemas.microsoft.com/office/powerpoint/2010/main" val="158666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02971-F249-C480-5762-4C9510F09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D54AF29-21C7-4792-D4C9-E71FFF3992C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OUTPUT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F3E4530-1BF6-60CD-DE1B-9F36E983B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EB5CB26-8482-A2A8-BC54-639F4899D54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F4BC0-9B89-4684-4FC5-F0BD2EC5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D5405-8BB6-F521-BFCE-E544750DC8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109" r="10463" b="12798"/>
          <a:stretch>
            <a:fillRect/>
          </a:stretch>
        </p:blipFill>
        <p:spPr>
          <a:xfrm>
            <a:off x="273075" y="1280194"/>
            <a:ext cx="11781172" cy="2483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C28C12-0770-FD2D-3465-D9D296ECC4F4}"/>
                  </a:ext>
                </a:extLst>
              </p14:cNvPr>
              <p14:cNvContentPartPr/>
              <p14:nvPr/>
            </p14:nvContentPartPr>
            <p14:xfrm>
              <a:off x="686141" y="2376455"/>
              <a:ext cx="2836800" cy="11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C28C12-0770-FD2D-3465-D9D296ECC4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501" y="2268815"/>
                <a:ext cx="29444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356D55-1EDC-6F49-3985-BCBA0BD135F2}"/>
                  </a:ext>
                </a:extLst>
              </p14:cNvPr>
              <p14:cNvContentPartPr/>
              <p14:nvPr/>
            </p14:nvContentPartPr>
            <p14:xfrm>
              <a:off x="645101" y="2521175"/>
              <a:ext cx="4223880" cy="49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356D55-1EDC-6F49-3985-BCBA0BD135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1101" y="2413175"/>
                <a:ext cx="4331520" cy="2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6316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AD0E-AB13-216D-C94E-694AE6C4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BF901D3-1541-5123-2ED1-2C36D27991B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Python Script  — Push OSPFv3 Using NETCONF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4CE8F56-F880-5F1A-DFAA-5B868C915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DA33B5E-03CC-1BAD-29FE-A28C5130C5D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ABF3D-D62B-352B-856A-AC75E1AA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73C61-26F5-B0DB-2138-1DDE81E284D6}"/>
              </a:ext>
            </a:extLst>
          </p:cNvPr>
          <p:cNvSpPr txBox="1"/>
          <p:nvPr/>
        </p:nvSpPr>
        <p:spPr>
          <a:xfrm>
            <a:off x="273075" y="703918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Connects to Router using NETCONF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Sends XML configuration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Enables IPv6 routing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Creates OSPFv3 process 10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Prints confirmation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52DE5-1114-C644-0C92-B4B4CEB3BB4F}"/>
              </a:ext>
            </a:extLst>
          </p:cNvPr>
          <p:cNvSpPr txBox="1"/>
          <p:nvPr/>
        </p:nvSpPr>
        <p:spPr>
          <a:xfrm>
            <a:off x="838200" y="2665138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ncclient</a:t>
            </a:r>
            <a:r>
              <a:rPr lang="en-IN" dirty="0"/>
              <a:t> import manager</a:t>
            </a:r>
          </a:p>
          <a:p>
            <a:r>
              <a:rPr lang="en-IN" dirty="0"/>
              <a:t>ROUTER_IP = "172.20.0.210"</a:t>
            </a:r>
          </a:p>
          <a:p>
            <a:r>
              <a:rPr lang="en-IN" dirty="0"/>
              <a:t>USERNAME = "</a:t>
            </a:r>
            <a:r>
              <a:rPr lang="en-IN" dirty="0" err="1"/>
              <a:t>wipro</a:t>
            </a:r>
            <a:r>
              <a:rPr lang="en-IN" dirty="0"/>
              <a:t>"</a:t>
            </a:r>
          </a:p>
          <a:p>
            <a:r>
              <a:rPr lang="en-IN" dirty="0"/>
              <a:t>PASSWORD = "cisco123"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ospfv3_config = """</a:t>
            </a:r>
          </a:p>
          <a:p>
            <a:r>
              <a:rPr lang="en-IN" dirty="0"/>
              <a:t>&lt;config&gt;</a:t>
            </a:r>
          </a:p>
          <a:p>
            <a:r>
              <a:rPr lang="en-IN" dirty="0"/>
              <a:t>  &lt;native </a:t>
            </a:r>
            <a:r>
              <a:rPr lang="en-IN" dirty="0" err="1"/>
              <a:t>xmlns</a:t>
            </a:r>
            <a:r>
              <a:rPr lang="en-IN" dirty="0"/>
              <a:t>="http://cisco.com/ns/yang/Cisco-IOS-XE-native"&gt;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   &lt;ipv6&gt;</a:t>
            </a:r>
          </a:p>
          <a:p>
            <a:r>
              <a:rPr lang="en-IN" dirty="0"/>
              <a:t>      &lt;unicast-routing/&gt;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EFEC5E-C963-942A-A7D8-916C075A7C15}"/>
              </a:ext>
            </a:extLst>
          </p:cNvPr>
          <p:cNvSpPr txBox="1"/>
          <p:nvPr/>
        </p:nvSpPr>
        <p:spPr>
          <a:xfrm>
            <a:off x="273075" y="23973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Python Script</a:t>
            </a:r>
          </a:p>
        </p:txBody>
      </p:sp>
    </p:spTree>
    <p:extLst>
      <p:ext uri="{BB962C8B-B14F-4D97-AF65-F5344CB8AC3E}">
        <p14:creationId xmlns:p14="http://schemas.microsoft.com/office/powerpoint/2010/main" val="1814587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C8E8-F63B-A74F-15B1-35AB12C9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A3BB7CF-E421-D667-CF42-57A96A8EA56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Python Script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89D3CAA-55A4-F9A0-AC57-856EE8F0B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889284A-5DEE-1B73-256D-B63030F1003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9BEAA-01E6-8E6C-AC9A-1EF91290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3D39A-1C99-8F0A-7190-F4CF9207A62F}"/>
              </a:ext>
            </a:extLst>
          </p:cNvPr>
          <p:cNvSpPr txBox="1"/>
          <p:nvPr/>
        </p:nvSpPr>
        <p:spPr>
          <a:xfrm>
            <a:off x="1376757" y="985649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      &lt;router&gt;</a:t>
            </a:r>
          </a:p>
          <a:p>
            <a:r>
              <a:rPr lang="en-IN" dirty="0"/>
              <a:t>        &lt;</a:t>
            </a:r>
            <a:r>
              <a:rPr lang="en-IN" dirty="0" err="1"/>
              <a:t>ospf</a:t>
            </a:r>
            <a:r>
              <a:rPr lang="en-IN" dirty="0"/>
              <a:t>&gt;</a:t>
            </a:r>
          </a:p>
          <a:p>
            <a:r>
              <a:rPr lang="en-IN" dirty="0"/>
              <a:t>          &lt;id&gt;10&lt;/id&gt;</a:t>
            </a:r>
          </a:p>
          <a:p>
            <a:r>
              <a:rPr lang="en-IN" dirty="0"/>
              <a:t>        &lt;/</a:t>
            </a:r>
            <a:r>
              <a:rPr lang="en-IN" dirty="0" err="1"/>
              <a:t>ospf</a:t>
            </a:r>
            <a:r>
              <a:rPr lang="en-IN" dirty="0"/>
              <a:t>&gt;</a:t>
            </a:r>
          </a:p>
          <a:p>
            <a:r>
              <a:rPr lang="en-IN" dirty="0"/>
              <a:t>      &lt;/router&gt;</a:t>
            </a:r>
          </a:p>
          <a:p>
            <a:endParaRPr lang="en-IN" dirty="0"/>
          </a:p>
          <a:p>
            <a:r>
              <a:rPr lang="en-IN" dirty="0"/>
              <a:t>    &lt;/ipv6&gt;</a:t>
            </a:r>
          </a:p>
          <a:p>
            <a:endParaRPr lang="en-IN" dirty="0"/>
          </a:p>
          <a:p>
            <a:r>
              <a:rPr lang="en-IN" dirty="0"/>
              <a:t>  &lt;/native&gt;</a:t>
            </a:r>
          </a:p>
          <a:p>
            <a:r>
              <a:rPr lang="en-IN" dirty="0"/>
              <a:t>&lt;/config&gt;</a:t>
            </a:r>
          </a:p>
          <a:p>
            <a:r>
              <a:rPr lang="en-IN" dirty="0"/>
              <a:t>"""</a:t>
            </a:r>
          </a:p>
          <a:p>
            <a:endParaRPr lang="en-IN" dirty="0"/>
          </a:p>
          <a:p>
            <a:r>
              <a:rPr lang="en-IN" dirty="0"/>
              <a:t>with </a:t>
            </a:r>
            <a:r>
              <a:rPr lang="en-IN" dirty="0" err="1"/>
              <a:t>manager.connect</a:t>
            </a:r>
            <a:r>
              <a:rPr lang="en-IN" dirty="0"/>
              <a:t>(</a:t>
            </a:r>
          </a:p>
          <a:p>
            <a:r>
              <a:rPr lang="en-IN" dirty="0"/>
              <a:t>    host=ROUTER_IP,</a:t>
            </a:r>
          </a:p>
          <a:p>
            <a:r>
              <a:rPr lang="en-IN" dirty="0"/>
              <a:t>    port=830,</a:t>
            </a:r>
          </a:p>
          <a:p>
            <a:r>
              <a:rPr lang="en-IN" dirty="0"/>
              <a:t>    username=USERNAME,</a:t>
            </a:r>
          </a:p>
          <a:p>
            <a:r>
              <a:rPr lang="en-IN" dirty="0"/>
              <a:t>    password=PASSWORD,</a:t>
            </a:r>
          </a:p>
          <a:p>
            <a:r>
              <a:rPr lang="en-IN" dirty="0"/>
              <a:t>    </a:t>
            </a:r>
            <a:r>
              <a:rPr lang="en-IN" dirty="0" err="1"/>
              <a:t>hostkey_verify</a:t>
            </a:r>
            <a:r>
              <a:rPr lang="en-IN" dirty="0"/>
              <a:t>=False</a:t>
            </a:r>
          </a:p>
          <a:p>
            <a:r>
              <a:rPr lang="en-IN" dirty="0"/>
              <a:t>) as m: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0E356-416E-1814-D3F9-AFD1AFBF57BA}"/>
              </a:ext>
            </a:extLst>
          </p:cNvPr>
          <p:cNvSpPr txBox="1"/>
          <p:nvPr/>
        </p:nvSpPr>
        <p:spPr>
          <a:xfrm>
            <a:off x="6471920" y="98564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  print("✅ Connected to Router3 NETCONF")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   response = </a:t>
            </a:r>
            <a:r>
              <a:rPr lang="en-IN" dirty="0" err="1"/>
              <a:t>m.edit_config</a:t>
            </a:r>
            <a:r>
              <a:rPr lang="en-IN" dirty="0"/>
              <a:t>(target="running", config=ospfv3_config)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    print("✅ OSPFv3 Process Created Successfully!")</a:t>
            </a:r>
          </a:p>
          <a:p>
            <a:r>
              <a:rPr lang="en-IN" dirty="0"/>
              <a:t>    print(response)</a:t>
            </a:r>
          </a:p>
          <a:p>
            <a:br>
              <a:rPr lang="en-IN" b="1" dirty="0"/>
            </a:br>
            <a:endParaRPr lang="en-IN" b="1" dirty="0"/>
          </a:p>
          <a:p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1389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FDCF-0D54-60B6-5A27-7FB55AB9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78E1319-49EF-DFBC-6E69-9CBD11AD9FD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OUTPUT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E5665C1-6F48-5807-DDC8-1E73F38F2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FA03E43-D848-1705-FE26-F4A2C003F27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8B209-0FE4-C8C6-71E2-766041A1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55394-2175-67C6-5804-B98A795755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502" r="12383" b="7512"/>
          <a:stretch>
            <a:fillRect/>
          </a:stretch>
        </p:blipFill>
        <p:spPr>
          <a:xfrm>
            <a:off x="273075" y="1318695"/>
            <a:ext cx="11407793" cy="27335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6B2906-D105-A1CB-F2DD-1980980F0AD8}"/>
                  </a:ext>
                </a:extLst>
              </p14:cNvPr>
              <p14:cNvContentPartPr/>
              <p14:nvPr/>
            </p14:nvContentPartPr>
            <p14:xfrm>
              <a:off x="770021" y="2440175"/>
              <a:ext cx="2751120" cy="3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6B2906-D105-A1CB-F2DD-1980980F0A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021" y="2332535"/>
                <a:ext cx="28587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A4CE68-5A45-93DA-FE0C-281B22576FC6}"/>
                  </a:ext>
                </a:extLst>
              </p14:cNvPr>
              <p14:cNvContentPartPr/>
              <p14:nvPr/>
            </p14:nvContentPartPr>
            <p14:xfrm>
              <a:off x="598661" y="2502455"/>
              <a:ext cx="3619800" cy="251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A4CE68-5A45-93DA-FE0C-281B22576F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661" y="2394455"/>
                <a:ext cx="3727440" cy="46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7949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F05A-A773-9FCC-62F9-F3A94B09D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5C05A86-1F74-EBCF-2FD5-0424D1008A6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Manual Configuration vs Automated Configuration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CDAE53E-18B6-2500-B4A3-377F87053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797E502-677C-C15D-9CEA-E7D0F50D611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D6B7E-6F44-032C-698A-2C2F39EA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469C9F-DFAA-3855-934A-5C7F8AE4C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099749"/>
              </p:ext>
            </p:extLst>
          </p:nvPr>
        </p:nvGraphicFramePr>
        <p:xfrm>
          <a:off x="616819" y="1091217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413600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169499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1096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Configuration (CLI Based)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Configuration (NETCONF + 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35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Configuration Method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Router CLI commands entered manually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 script using </a:t>
                      </a:r>
                      <a:r>
                        <a:rPr lang="en-US" b="1"/>
                        <a:t>NETCONF (ncclient)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3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Protocols Configured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OSPFv2, OSPFv3, EIGRP, GRE configured one-by-one on each 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OSPFv2 and OSPFv3 pushed automatically via 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514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Time Required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– configure each router separately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– script pushes config instantly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217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Human Errors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chance (wrong area, wrong mask, typo errors)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Minimal errors (standardized XML template)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05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Scalability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for large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Easily scalable to many routers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659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556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6E360-6816-3289-61DC-6C609856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05CBA089-784F-85E5-6748-42F66D5D6B6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Conclusion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A534FA-CFD9-E0AB-73AD-9EAC41A2C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57CBA79-4E59-8C15-367D-2B651C12A61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7292-9FBA-D1AD-871A-0D0A6199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A0CBD-1C2A-FAF5-276C-8E2DD14747D5}"/>
              </a:ext>
            </a:extLst>
          </p:cNvPr>
          <p:cNvSpPr txBox="1"/>
          <p:nvPr/>
        </p:nvSpPr>
        <p:spPr>
          <a:xfrm>
            <a:off x="431513" y="889843"/>
            <a:ext cx="102526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project successfully demonstrated the implementation of enterprise routing and tunneling technologies along with network automation.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Achievements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Implemented </a:t>
            </a:r>
            <a:r>
              <a:rPr lang="en-US" b="1" dirty="0"/>
              <a:t>Multi-Area OSPFv2</a:t>
            </a:r>
            <a:r>
              <a:rPr lang="en-US" dirty="0"/>
              <a:t> for IPv4 routing across backbone and non-backbone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Configured </a:t>
            </a:r>
            <a:r>
              <a:rPr lang="en-US" b="1" dirty="0"/>
              <a:t>OSPFv3</a:t>
            </a:r>
            <a:r>
              <a:rPr lang="en-US" dirty="0"/>
              <a:t> to enable dynamic IPv6 connectivity between all routers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Established </a:t>
            </a:r>
            <a:r>
              <a:rPr lang="en-US" b="1" dirty="0"/>
              <a:t>EIGRP AS 100</a:t>
            </a:r>
            <a:r>
              <a:rPr lang="en-US" dirty="0"/>
              <a:t> for efficient hybrid routing and fast convergence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a </a:t>
            </a:r>
            <a:r>
              <a:rPr lang="en-US" b="1" dirty="0"/>
              <a:t>GRE Tunnel over OSPF</a:t>
            </a:r>
            <a:r>
              <a:rPr lang="en-US" dirty="0"/>
              <a:t> to provide virtual secure communication between remote routers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end-to-end reachability using </a:t>
            </a:r>
            <a:r>
              <a:rPr lang="en-US" b="1" dirty="0"/>
              <a:t>ping, traceroute, and routing protocol commands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OSPFv2 configuration deployment using </a:t>
            </a:r>
            <a:r>
              <a:rPr lang="en-US" b="1" dirty="0"/>
              <a:t>Python + NETCONF (</a:t>
            </a:r>
            <a:r>
              <a:rPr lang="en-US" b="1" dirty="0" err="1"/>
              <a:t>ncclient</a:t>
            </a:r>
            <a:r>
              <a:rPr lang="en-US" b="1" dirty="0"/>
              <a:t>)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Final Outcome</a:t>
            </a:r>
          </a:p>
          <a:p>
            <a:pPr>
              <a:buNone/>
            </a:pPr>
            <a:r>
              <a:rPr lang="en-US" dirty="0"/>
              <a:t>A fully connected multi-protocol network was achieved with both manual configuration and automated routing deployment, reflecting real-world enterprise networking practices.</a:t>
            </a:r>
          </a:p>
        </p:txBody>
      </p:sp>
    </p:spTree>
    <p:extLst>
      <p:ext uri="{BB962C8B-B14F-4D97-AF65-F5344CB8AC3E}">
        <p14:creationId xmlns:p14="http://schemas.microsoft.com/office/powerpoint/2010/main" val="80989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3998</TotalTime>
  <Words>1585</Words>
  <Application>Microsoft Office PowerPoint</Application>
  <PresentationFormat>Widescreen</PresentationFormat>
  <Paragraphs>299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56262-Mantasha Ahmad</cp:lastModifiedBy>
  <cp:revision>21</cp:revision>
  <dcterms:created xsi:type="dcterms:W3CDTF">2024-05-04T13:11:57Z</dcterms:created>
  <dcterms:modified xsi:type="dcterms:W3CDTF">2026-02-14T10:29:41Z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